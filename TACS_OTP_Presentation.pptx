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EC85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731520"/>
            <a:ext cx="1645920" cy="2011680"/>
          </a:xfrm>
          <a:prstGeom prst="roundRect">
            <a:avLst>
              <a:gd name="adj" fmla="val 8333"/>
            </a:avLst>
          </a:prstGeom>
          <a:solidFill>
            <a:srgbClr val="4A6741"/>
          </a:solidFill>
          <a:ln w="25400">
            <a:solidFill>
              <a:srgbClr val="7EC8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82296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🔐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11480" y="320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77724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MILITARY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SYSTEM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11480" y="251460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Pad Stream Cipher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Real-World Battlefield Messaging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3474720"/>
            <a:ext cx="4114800" cy="36576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3611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Rafia Rameen</a:t>
            </a:r>
            <a:pPr indent="0" marL="0">
              <a:buNone/>
            </a:pPr>
            <a:r>
              <a:rPr lang="en-US" sz="13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(FA24-BSE-051)     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Samrina Manahil</a:t>
            </a:r>
            <a:pPr indent="0" marL="0">
              <a:buNone/>
            </a:pPr>
            <a:r>
              <a:rPr lang="en-US" sz="13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(FA24-BSE-052)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  •  Department of Computer Science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1B3A1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2560320"/>
            <a:ext cx="1737360" cy="36576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834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SEC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365760"/>
            <a:ext cx="502920" cy="457200"/>
          </a:xfrm>
          <a:prstGeom prst="rect">
            <a:avLst/>
          </a:prstGeom>
          <a:solidFill>
            <a:srgbClr val="7EC850"/>
          </a:solidFill>
          <a:ln w="12700">
            <a:solidFill>
              <a:srgbClr val="7EC8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3657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F0E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46120" y="384048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One-Time Pad?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46120" y="630936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foundation &amp; perfect secrecy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124712"/>
            <a:ext cx="502920" cy="457200"/>
          </a:xfrm>
          <a:prstGeom prst="rect">
            <a:avLst/>
          </a:prstGeom>
          <a:solidFill>
            <a:srgbClr val="7EC850"/>
          </a:solidFill>
          <a:ln w="12700">
            <a:solidFill>
              <a:srgbClr val="7EC8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1247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F0E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11430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OTP Works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46120" y="1389888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mechanism, key generation, security properties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0" y="1883664"/>
            <a:ext cx="502920" cy="457200"/>
          </a:xfrm>
          <a:prstGeom prst="rect">
            <a:avLst/>
          </a:prstGeom>
          <a:solidFill>
            <a:srgbClr val="7EC850"/>
          </a:solidFill>
          <a:ln w="12700">
            <a:solidFill>
              <a:srgbClr val="7EC8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88366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F0E"/>
                </a:solidFill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46120" y="190195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46120" y="214884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TACS — Tactical Army Communication System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0" y="2642616"/>
            <a:ext cx="502920" cy="457200"/>
          </a:xfrm>
          <a:prstGeom prst="rect">
            <a:avLst/>
          </a:prstGeom>
          <a:solidFill>
            <a:srgbClr val="7EC850"/>
          </a:solidFill>
          <a:ln w="12700">
            <a:solidFill>
              <a:srgbClr val="7EC8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264261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F0E"/>
                </a:solidFill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46120" y="26609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46120" y="2907792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roles, message lifecycle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0" y="3401568"/>
            <a:ext cx="502920" cy="457200"/>
          </a:xfrm>
          <a:prstGeom prst="rect">
            <a:avLst/>
          </a:prstGeom>
          <a:solidFill>
            <a:srgbClr val="7EC850"/>
          </a:solidFill>
          <a:ln w="12700">
            <a:solidFill>
              <a:srgbClr val="7EC8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34015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F0E"/>
                </a:solidFill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46120" y="3419856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Code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246120" y="3666744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OTP applied to battlefield messaging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0" y="4160520"/>
            <a:ext cx="502920" cy="457200"/>
          </a:xfrm>
          <a:prstGeom prst="rect">
            <a:avLst/>
          </a:prstGeom>
          <a:solidFill>
            <a:srgbClr val="7EC850"/>
          </a:solidFill>
          <a:ln w="12700">
            <a:solidFill>
              <a:srgbClr val="7EC8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41605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F0E"/>
                </a:solidFill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46120" y="4178808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 &amp; Conclusion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246120" y="4425696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Strengths, limitations, and verdict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1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ONE-TIME PAD?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960120"/>
          </a:xfrm>
          <a:prstGeom prst="rect">
            <a:avLst/>
          </a:prstGeom>
          <a:solidFill>
            <a:srgbClr val="1B3A1E"/>
          </a:solidFill>
          <a:ln w="19050">
            <a:solidFill>
              <a:srgbClr val="7EC8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EC850"/>
                </a:solidFill>
              </a:rPr>
              <a:t>"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The only cipher in history mathematically proven to be </a:t>
            </a:r>
            <a:pPr algn="ctr" indent="0" marL="0">
              <a:buNone/>
            </a:pPr>
            <a:r>
              <a:rPr lang="en-US" sz="1400" b="1" dirty="0">
                <a:solidFill>
                  <a:srgbClr val="7EC850"/>
                </a:solidFill>
              </a:rPr>
              <a:t>perfectly secret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— unbreakable even with infinite computing power.</a:t>
            </a:r>
            <a:pPr algn="ctr" indent="0" marL="0">
              <a:buNone/>
            </a:pPr>
            <a:r>
              <a:rPr lang="en-US" sz="3600" b="1" dirty="0">
                <a:solidFill>
                  <a:srgbClr val="7EC850"/>
                </a:solidFill>
              </a:rPr>
              <a:t>"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674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920240"/>
            <a:ext cx="2743200" cy="54864"/>
          </a:xfrm>
          <a:prstGeom prst="rect">
            <a:avLst/>
          </a:prstGeom>
          <a:solidFill>
            <a:srgbClr val="7EC85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99339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🔑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6334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Key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" y="2999232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is truly random, generated using CSPRNG or hardware noise — not pseudo-random.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192024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674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920240"/>
            <a:ext cx="2743200" cy="54864"/>
          </a:xfrm>
          <a:prstGeom prst="rect">
            <a:avLst/>
          </a:prstGeom>
          <a:solidFill>
            <a:srgbClr val="7EC850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99339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91840" y="26334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Length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10128" y="2999232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must be exactly as long as the plaintext message — no recycling allowed.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192024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674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920240"/>
            <a:ext cx="2743200" cy="54864"/>
          </a:xfrm>
          <a:prstGeom prst="rect">
            <a:avLst/>
          </a:prstGeom>
          <a:solidFill>
            <a:srgbClr val="7EC850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99339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🗑️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17920" y="26334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36208" y="2999232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key is discarded after a single use — hence "one-time" pad.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by Gilbert Vernam (1917) • Proven perfectly secret by Claude Shannon (1949)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B1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ONE-TIME PAD 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011680" cy="822960"/>
          </a:xfrm>
          <a:prstGeom prst="rect">
            <a:avLst/>
          </a:prstGeom>
          <a:solidFill>
            <a:srgbClr val="1B3A1E"/>
          </a:solidFill>
          <a:ln w="15240">
            <a:solidFill>
              <a:srgbClr val="4A67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PLAINTEXT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01001000 01101001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14600" y="86868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F37"/>
                </a:solidFill>
              </a:rPr>
              <a:t>⊕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108960" y="868680"/>
            <a:ext cx="2011680" cy="822960"/>
          </a:xfrm>
          <a:prstGeom prst="rect">
            <a:avLst/>
          </a:prstGeom>
          <a:solidFill>
            <a:srgbClr val="143D17"/>
          </a:solidFill>
          <a:ln w="15240">
            <a:solidFill>
              <a:srgbClr val="4A67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8686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KEY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11010110 10101001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0" y="86868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8D5C8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760720" y="868680"/>
            <a:ext cx="2011680" cy="822960"/>
          </a:xfrm>
          <a:prstGeom prst="rect">
            <a:avLst/>
          </a:prstGeom>
          <a:solidFill>
            <a:srgbClr val="4A6741"/>
          </a:solidFill>
          <a:ln w="15240">
            <a:solidFill>
              <a:srgbClr val="4A67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8686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CIPHERTEXT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10011110 11000001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Decryption: Ciphertext ⊕ Key = Plaintext (same operation)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2057400" cy="2468880"/>
          </a:xfrm>
          <a:prstGeom prst="rect">
            <a:avLst/>
          </a:prstGeom>
          <a:solidFill>
            <a:srgbClr val="1C2B1E"/>
          </a:solidFill>
          <a:ln w="12700">
            <a:solidFill>
              <a:srgbClr val="7EC8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331720"/>
            <a:ext cx="2057400" cy="45720"/>
          </a:xfrm>
          <a:prstGeom prst="rect">
            <a:avLst/>
          </a:prstGeom>
          <a:solidFill>
            <a:srgbClr val="7EC85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4231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Secrecy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5760" y="2852928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ciphertext is equally likely for any plaintext — statistically unbreakable.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50592" y="2331720"/>
            <a:ext cx="2057400" cy="2468880"/>
          </a:xfrm>
          <a:prstGeom prst="rect">
            <a:avLst/>
          </a:prstGeom>
          <a:solidFill>
            <a:srgbClr val="1C2B1E"/>
          </a:solidFill>
          <a:ln w="12700">
            <a:solidFill>
              <a:srgbClr val="7EC8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2331720"/>
            <a:ext cx="2057400" cy="45720"/>
          </a:xfrm>
          <a:prstGeom prst="rect">
            <a:avLst/>
          </a:prstGeom>
          <a:solidFill>
            <a:srgbClr val="7EC850"/>
          </a:solidFill>
          <a:ln/>
        </p:spPr>
      </p:sp>
      <p:sp>
        <p:nvSpPr>
          <p:cNvPr id="19" name="Text 17"/>
          <p:cNvSpPr/>
          <p:nvPr/>
        </p:nvSpPr>
        <p:spPr>
          <a:xfrm>
            <a:off x="2542032" y="24231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Operation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542032" y="2852928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P ⊕ K  |  P = C ⊕ 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Bitwise operation on binary data.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26864" y="2331720"/>
            <a:ext cx="2057400" cy="2468880"/>
          </a:xfrm>
          <a:prstGeom prst="rect">
            <a:avLst/>
          </a:prstGeom>
          <a:solidFill>
            <a:srgbClr val="1C2B1E"/>
          </a:solidFill>
          <a:ln w="12700">
            <a:solidFill>
              <a:srgbClr val="7EC8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26864" y="2331720"/>
            <a:ext cx="2057400" cy="45720"/>
          </a:xfrm>
          <a:prstGeom prst="rect">
            <a:avLst/>
          </a:prstGeom>
          <a:solidFill>
            <a:srgbClr val="7EC850"/>
          </a:solidFill>
          <a:ln/>
        </p:spPr>
      </p:sp>
      <p:sp>
        <p:nvSpPr>
          <p:cNvPr id="23" name="Text 21"/>
          <p:cNvSpPr/>
          <p:nvPr/>
        </p:nvSpPr>
        <p:spPr>
          <a:xfrm>
            <a:off x="4718304" y="24231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Distribution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718304" y="2852928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must be shared securely before communication — the key exchange problem.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03136" y="2331720"/>
            <a:ext cx="2057400" cy="2468880"/>
          </a:xfrm>
          <a:prstGeom prst="rect">
            <a:avLst/>
          </a:prstGeom>
          <a:solidFill>
            <a:srgbClr val="1C2B1E"/>
          </a:solidFill>
          <a:ln w="12700">
            <a:solidFill>
              <a:srgbClr val="7EC8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03136" y="2331720"/>
            <a:ext cx="2057400" cy="45720"/>
          </a:xfrm>
          <a:prstGeom prst="rect">
            <a:avLst/>
          </a:prstGeom>
          <a:solidFill>
            <a:srgbClr val="7EC850"/>
          </a:solidFill>
          <a:ln/>
        </p:spPr>
      </p:sp>
      <p:sp>
        <p:nvSpPr>
          <p:cNvPr id="27" name="Text 25"/>
          <p:cNvSpPr/>
          <p:nvPr/>
        </p:nvSpPr>
        <p:spPr>
          <a:xfrm>
            <a:off x="6894576" y="24231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Patterns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94576" y="2852928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appears as pure random noise with zero statistical leakage whatsoever.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1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APPLICATION: TACS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685800"/>
          </a:xfrm>
          <a:prstGeom prst="rect">
            <a:avLst/>
          </a:prstGeom>
          <a:solidFill>
            <a:srgbClr val="1B3A1E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TACS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Army Communication System</a:t>
            </a:r>
            <a:pPr indent="0" marL="0">
              <a:buNone/>
            </a:pPr>
            <a:r>
              <a:rPr lang="en-US" sz="1200" i="1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OTP-Secured Battlefield Messaging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627632"/>
            <a:ext cx="41148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91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084832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army units — Alpha Company and Bravo Company — are deployed in a hostile zone. They need to exchange mission-critical messages (coordinates, troop movements, orders) over radio that can be intercepted.
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TACS, each unit is pre-loaded with the same </a:t>
            </a:r>
            <a:pPr indent="0" marL="0">
              <a:buNone/>
            </a:pPr>
            <a:r>
              <a:rPr lang="en-US" sz="1200" b="1" dirty="0">
                <a:solidFill>
                  <a:srgbClr val="1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key pad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shared list of truly random keys, one per message) before deployment. All battlefield messages are encrypted with OTP — intercepted ciphertext reveals nothing to the enemy.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627632"/>
            <a:ext cx="42062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4A67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627632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303520" y="16733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Pre-Shared Key Pads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303520" y="193852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distributed via secure physical courier before field deployment — no digital key exchange vulnerability.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2441448"/>
            <a:ext cx="42062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4A67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441448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03520" y="24871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Coordinates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303520" y="275234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grid references, rally points, and target coordinates — safe over open radio bands.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3255264"/>
            <a:ext cx="42062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4A67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3255264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🪖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03520" y="33009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Orders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303520" y="35661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support calls, troop movement orders, MEDEVAC requests encrypted end-to-end.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4069080"/>
            <a:ext cx="42062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4A67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4069080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03520" y="41148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Expiry Protocol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03520" y="437997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key destroyed after use. Compromise of one key does not affect past or future messages.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B1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TACS SYSTEM ARCHITECTURE &amp; MESSAGE LIFECYCLE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1627632" cy="4023360"/>
          </a:xfrm>
          <a:prstGeom prst="rect">
            <a:avLst/>
          </a:prstGeom>
          <a:solidFill>
            <a:srgbClr val="1C2B1E"/>
          </a:solidFill>
          <a:ln w="15240">
            <a:solidFill>
              <a:srgbClr val="7EC8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841248"/>
            <a:ext cx="640080" cy="640080"/>
          </a:xfrm>
          <a:prstGeom prst="ellipse">
            <a:avLst/>
          </a:prstGeom>
          <a:solidFill>
            <a:srgbClr val="7EC850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8412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F0E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56232" y="96012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741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" y="1572768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GENERATION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" y="2121408"/>
            <a:ext cx="1481328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HQ generates OTP key pad using CSPRNG. N keys = N messages max per mission.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84248" y="777240"/>
            <a:ext cx="1627632" cy="4023360"/>
          </a:xfrm>
          <a:prstGeom prst="rect">
            <a:avLst/>
          </a:prstGeom>
          <a:solidFill>
            <a:srgbClr val="1C2B1E"/>
          </a:solidFill>
          <a:ln w="15240">
            <a:solidFill>
              <a:srgbClr val="7EC8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78024" y="841248"/>
            <a:ext cx="640080" cy="640080"/>
          </a:xfrm>
          <a:prstGeom prst="ellipse">
            <a:avLst/>
          </a:prstGeom>
          <a:solidFill>
            <a:srgbClr val="7EC850"/>
          </a:solidFill>
          <a:ln/>
        </p:spPr>
      </p:sp>
      <p:sp>
        <p:nvSpPr>
          <p:cNvPr id="12" name="Text 10"/>
          <p:cNvSpPr/>
          <p:nvPr/>
        </p:nvSpPr>
        <p:spPr>
          <a:xfrm>
            <a:off x="2478024" y="8412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F0E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96012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741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57400" y="1572768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DISTRIBUTION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57400" y="2121408"/>
            <a:ext cx="1481328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pad physically delivered to Alpha &amp; Bravo units via trusted courier before deployment.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739896" y="777240"/>
            <a:ext cx="1627632" cy="4023360"/>
          </a:xfrm>
          <a:prstGeom prst="rect">
            <a:avLst/>
          </a:prstGeom>
          <a:solidFill>
            <a:srgbClr val="1C2B1E"/>
          </a:solidFill>
          <a:ln w="15240">
            <a:solidFill>
              <a:srgbClr val="7EC8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33672" y="841248"/>
            <a:ext cx="640080" cy="640080"/>
          </a:xfrm>
          <a:prstGeom prst="ellipse">
            <a:avLst/>
          </a:prstGeom>
          <a:solidFill>
            <a:srgbClr val="7EC850"/>
          </a:solidFill>
          <a:ln/>
        </p:spPr>
      </p:sp>
      <p:sp>
        <p:nvSpPr>
          <p:cNvPr id="18" name="Text 16"/>
          <p:cNvSpPr/>
          <p:nvPr/>
        </p:nvSpPr>
        <p:spPr>
          <a:xfrm>
            <a:off x="4233672" y="8412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F0E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67528" y="96012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741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13048" y="1572768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&amp; TRANSMIT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13048" y="2121408"/>
            <a:ext cx="1481328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XORs message bytes with next unused key. Ciphertext sent over open radio/satellite.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95544" y="777240"/>
            <a:ext cx="1627632" cy="4023360"/>
          </a:xfrm>
          <a:prstGeom prst="rect">
            <a:avLst/>
          </a:prstGeom>
          <a:solidFill>
            <a:srgbClr val="1C2B1E"/>
          </a:solidFill>
          <a:ln w="15240">
            <a:solidFill>
              <a:srgbClr val="7EC8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9320" y="841248"/>
            <a:ext cx="640080" cy="640080"/>
          </a:xfrm>
          <a:prstGeom prst="ellipse">
            <a:avLst/>
          </a:prstGeom>
          <a:solidFill>
            <a:srgbClr val="7EC850"/>
          </a:solidFill>
          <a:ln/>
        </p:spPr>
      </p:sp>
      <p:sp>
        <p:nvSpPr>
          <p:cNvPr id="24" name="Text 22"/>
          <p:cNvSpPr/>
          <p:nvPr/>
        </p:nvSpPr>
        <p:spPr>
          <a:xfrm>
            <a:off x="5989320" y="8412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F0E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23176" y="96012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741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68696" y="1572768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&amp; DECRYPT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68696" y="2121408"/>
            <a:ext cx="1481328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XORs received ciphertext with same key (same index). Original message recovered.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251192" y="777240"/>
            <a:ext cx="1627632" cy="4023360"/>
          </a:xfrm>
          <a:prstGeom prst="rect">
            <a:avLst/>
          </a:prstGeom>
          <a:solidFill>
            <a:srgbClr val="1C2B1E"/>
          </a:solidFill>
          <a:ln w="15240">
            <a:solidFill>
              <a:srgbClr val="7EC8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44968" y="841248"/>
            <a:ext cx="640080" cy="640080"/>
          </a:xfrm>
          <a:prstGeom prst="ellipse">
            <a:avLst/>
          </a:prstGeom>
          <a:solidFill>
            <a:srgbClr val="7EC850"/>
          </a:solidFill>
          <a:ln/>
        </p:spPr>
      </p:sp>
      <p:sp>
        <p:nvSpPr>
          <p:cNvPr id="30" name="Text 28"/>
          <p:cNvSpPr/>
          <p:nvPr/>
        </p:nvSpPr>
        <p:spPr>
          <a:xfrm>
            <a:off x="7744968" y="8412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F0E"/>
                </a:solidFill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324344" y="1572768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DESTRUCTION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24344" y="2121408"/>
            <a:ext cx="1481328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key immediately destroyed (zeroed/burned). Prevents retroactive decryption if captured.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371600" y="4663440"/>
            <a:ext cx="6400800" cy="347472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34" name="Text 32"/>
          <p:cNvSpPr/>
          <p:nvPr/>
        </p:nvSpPr>
        <p:spPr>
          <a:xfrm>
            <a:off x="1371600" y="46634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CLASSIFICATION: TOP SECRET  •  OTP guarantees that intercepted radio signals carry ZERO intelligence value  •  🔒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C2B1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TACS OTP Battlefield Messenger (Python)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640080"/>
            <a:ext cx="8778240" cy="4343400"/>
          </a:xfrm>
          <a:prstGeom prst="rect">
            <a:avLst/>
          </a:prstGeom>
          <a:solidFill>
            <a:srgbClr val="2B3D2D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0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os, hashlib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8915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Key Pad: pre-shared between Alpha and Bravo units ──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3030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OTPKeyPad: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mission_id, num_messages, msg_size=128):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71450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self.keys = [os.urandom(msg_size) for _ in range(num_messages)]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19202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self.index = 0  # pointer to next unused key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12598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3317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get_key(self):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253746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key = self.keys[self.index]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274320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self.keys[self.index] = bytes(len(key))  # destroy after use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29489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self.index += 1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315468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key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33604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356616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OTP Encrypt / Decrypt (XOR) ──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377190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otp_encrypt(plaintext: bytes, key: bytes) -&gt; bytes: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39776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bytes(p ^ k for p, k in zip(plaintext, key))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418338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3891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otp_decrypt(ciphertext: bytes, key: bytes) -&gt; bytes: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59486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bytes(c ^ k for c, k in zip(ciphertext, key))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C2B1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Battlefield Message Simulation &amp; Output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640080"/>
            <a:ext cx="5074920" cy="4343400"/>
          </a:xfrm>
          <a:prstGeom prst="rect">
            <a:avLst/>
          </a:prstGeom>
          <a:solidFill>
            <a:srgbClr val="2B3D2D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94944"/>
            <a:ext cx="4800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TACS Battlefield Message ──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91540"/>
            <a:ext cx="4800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BattlefieldMessage: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088136"/>
            <a:ext cx="4800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sender, receiver, text, key_pad):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284732"/>
            <a:ext cx="4800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self.sender   = sender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481328"/>
            <a:ext cx="4800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self.receiver = receiver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677924"/>
            <a:ext cx="4800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raw = text.encode().ljust(128, b'\x00')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1874520"/>
            <a:ext cx="4800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key = key_pad.get_key()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2071116"/>
            <a:ext cx="4800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self.cipher = otp_encrypt(raw, key)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2267712"/>
            <a:ext cx="4800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self._key = key  # held for demo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2464308"/>
            <a:ext cx="4800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2660904"/>
            <a:ext cx="4800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decrypt(self):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2857500"/>
            <a:ext cx="4800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raw = otp_decrypt(self.cipher, self._key)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3054096"/>
            <a:ext cx="4800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raw.rstrip(b'\x00').decode()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3250692"/>
            <a:ext cx="4800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3447288"/>
            <a:ext cx="4800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Simulation ──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" y="3643884"/>
            <a:ext cx="4800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pad_alpha = OTPKeyPad('MISSION-DELTA', 50)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3840480"/>
            <a:ext cx="4800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 = BattlefieldMessage(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" y="4037076"/>
            <a:ext cx="4800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'Alpha-6', 'Bravo-4',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" y="4233672"/>
            <a:ext cx="4800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'GRID 3847-N ENEMY SPOTTED. REQUEST FIRE SUPPORT.',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" y="4430268"/>
            <a:ext cx="4800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pad_alpha)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" y="4626864"/>
            <a:ext cx="4800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print('Cipher:', msg.cipher.hex()[:32]+'...')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" y="4823460"/>
            <a:ext cx="4800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print('Decrypted:', msg.decrypt())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40680" y="640080"/>
            <a:ext cx="3520440" cy="1828800"/>
          </a:xfrm>
          <a:prstGeom prst="rect">
            <a:avLst/>
          </a:prstGeom>
          <a:solidFill>
            <a:srgbClr val="000000"/>
          </a:solidFill>
          <a:ln w="12700">
            <a:solidFill>
              <a:srgbClr val="7EC8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40680" y="640080"/>
            <a:ext cx="3520440" cy="292608"/>
          </a:xfrm>
          <a:prstGeom prst="rect">
            <a:avLst/>
          </a:prstGeom>
          <a:solidFill>
            <a:srgbClr val="1A3A1A"/>
          </a:solidFill>
          <a:ln/>
        </p:spPr>
      </p:sp>
      <p:sp>
        <p:nvSpPr>
          <p:cNvPr id="29" name="Text 27"/>
          <p:cNvSpPr/>
          <p:nvPr/>
        </p:nvSpPr>
        <p:spPr>
          <a:xfrm>
            <a:off x="5468112" y="6400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TACS Terminal Output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32120" y="960120"/>
            <a:ext cx="3337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C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tacs.py
</a:t>
            </a:r>
            <a:pPr indent="0" marL="0">
              <a:buNone/>
            </a:pPr>
            <a:r>
              <a:rPr lang="en-US" sz="950" dirty="0">
                <a:solidFill>
                  <a:srgbClr val="C8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Sender:    Alpha-6
</a:t>
            </a:r>
            <a:pPr indent="0" marL="0">
              <a:buNone/>
            </a:pPr>
            <a:r>
              <a:rPr lang="en-US" sz="950" dirty="0">
                <a:solidFill>
                  <a:srgbClr val="C8D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Receiver:  Bravo-4
</a:t>
            </a:r>
            <a:pPr indent="0" marL="0">
              <a:buNone/>
            </a:pPr>
            <a:r>
              <a:rPr lang="en-US" sz="95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Cipher:    a3f9c2b71e4d...
</a:t>
            </a:r>
            <a:pPr indent="0" marL="0">
              <a:buNone/>
            </a:pPr>
            <a:r>
              <a:rPr lang="en-US" sz="950" b="1" dirty="0">
                <a:solidFill>
                  <a:srgbClr val="A8D0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Decrypted: GRID 3847-N ENEMY SPOTTED.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40680" y="2633472"/>
            <a:ext cx="3520440" cy="2350008"/>
          </a:xfrm>
          <a:prstGeom prst="rect">
            <a:avLst/>
          </a:prstGeom>
          <a:solidFill>
            <a:srgbClr val="1C2B1E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2120" y="267004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IMPLEMENTATION POINTS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32120" y="301752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os.urandom() — cryptographically secure random key bytes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32120" y="341071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(^) operation: encryption = decryption same function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532120" y="380390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destroyed (zeroed) immediately after single use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532120" y="419709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padded to fixed size — prevents length leakage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32120" y="459028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 index per message — strict OTP discipline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1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 OF TACS-OTP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114800"/>
          </a:xfrm>
          <a:prstGeom prst="rect">
            <a:avLst/>
          </a:prstGeom>
          <a:solidFill>
            <a:srgbClr val="EEFAEE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0" cy="41148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77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STRENGTHS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Information-theoretically secure — no brute-force possible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80136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infinite computing power, ciphertext is meaningless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plaintext is equally probable given any ciphertext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80720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mathematical vulnerabilities — proven by Shannon 1949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331012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Quantum-computer resistant — pure randomness defeats all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381304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historically by KGB, US NSA hotlines, diplomatic cables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777240"/>
            <a:ext cx="4114800" cy="4114800"/>
          </a:xfrm>
          <a:prstGeom prst="rect">
            <a:avLst/>
          </a:prstGeom>
          <a:solidFill>
            <a:srgbClr val="FFF3F3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777240"/>
            <a:ext cx="411480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777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LIMITATIONS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29844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50" dirty="0">
                <a:solidFill>
                  <a:srgbClr val="3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must be as long as the message — storage overhead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0" y="180136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50" dirty="0">
                <a:solidFill>
                  <a:srgbClr val="3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key distribution is the critical challenge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46320" y="230428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50" dirty="0">
                <a:solidFill>
                  <a:srgbClr val="3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key is reused even once, perfect secrecy is broken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0" y="280720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50" dirty="0">
                <a:solidFill>
                  <a:srgbClr val="3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key pad logistics in field can be compromised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331012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50" dirty="0">
                <a:solidFill>
                  <a:srgbClr val="3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management at scale is operationally complex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46320" y="381304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50" dirty="0">
                <a:solidFill>
                  <a:srgbClr val="3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suitable for high-bandwidth data — suited for short messages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1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USE &amp; WHY OTP IS IDEAL FOR MILITARY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097280" cy="475488"/>
          </a:xfrm>
          <a:prstGeom prst="rect">
            <a:avLst/>
          </a:prstGeom>
          <a:solidFill>
            <a:srgbClr val="1B3A1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0467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EC850"/>
                </a:solidFill>
              </a:rPr>
              <a:t>1917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08760" y="85039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Gilbert Vernam patents the OTP cipher for telegraph communications.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1097280" cy="164592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444752"/>
            <a:ext cx="1097280" cy="475488"/>
          </a:xfrm>
          <a:prstGeom prst="rect">
            <a:avLst/>
          </a:prstGeom>
          <a:solidFill>
            <a:srgbClr val="1B3A1E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44475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EC850"/>
                </a:solidFill>
              </a:rPr>
              <a:t>1943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149047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Moscow-Washington hotline used OTP to prevent nuclear miscommunication.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1097280" cy="164592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2084832"/>
            <a:ext cx="1097280" cy="475488"/>
          </a:xfrm>
          <a:prstGeom prst="rect">
            <a:avLst/>
          </a:prstGeom>
          <a:solidFill>
            <a:srgbClr val="1B3A1E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08483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EC850"/>
                </a:solidFill>
              </a:rPr>
              <a:t>1950s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213055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Soviet KGB and CIA both adopted OTP for spy communications.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560320"/>
            <a:ext cx="1097280" cy="164592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2724912"/>
            <a:ext cx="1097280" cy="475488"/>
          </a:xfrm>
          <a:prstGeom prst="rect">
            <a:avLst/>
          </a:prstGeom>
          <a:solidFill>
            <a:srgbClr val="1B3A1E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72491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EC850"/>
                </a:solidFill>
              </a:rPr>
              <a:t>1988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277063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NSA declassifies OTP research — confirms its perfect secrecy proof.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200400"/>
            <a:ext cx="1097280" cy="164592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3364992"/>
            <a:ext cx="1097280" cy="475488"/>
          </a:xfrm>
          <a:prstGeom prst="rect">
            <a:avLst/>
          </a:prstGeom>
          <a:solidFill>
            <a:srgbClr val="1B3A1E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36499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EC850"/>
                </a:solidFill>
              </a:rPr>
              <a:t>Today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08760" y="341071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operations forces use OTP-based systems for field messaging.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777240"/>
            <a:ext cx="2743200" cy="4160520"/>
          </a:xfrm>
          <a:prstGeom prst="rect">
            <a:avLst/>
          </a:prstGeom>
          <a:solidFill>
            <a:srgbClr val="1B3A1E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8412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MILITARY?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132588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1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critical messages — OTP length requirement manageable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201168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1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Pre-deployment key exchange is feasible via courier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269748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1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intercept of radio yields zero intelligence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38328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1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dependence on PKI or internet infrastructure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406908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1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total comms blackout — offline encryption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EC85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7EC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572000" cy="36576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078992"/>
            <a:ext cx="8321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One-Time Pad is the only cipher with mathematical proof of perfect secrecy. Applied to TACS — our Tactical Army Communication System — it transforms battlefield radio messaging into an unbreakable channel. An enemy intercepting ciphertext learns nothing about troop positions, orders, or coordinates, regardless of computing resources.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2514600"/>
            <a:ext cx="8321040" cy="530352"/>
          </a:xfrm>
          <a:prstGeom prst="rect">
            <a:avLst/>
          </a:prstGeom>
          <a:solidFill>
            <a:srgbClr val="1C2B1E"/>
          </a:solidFill>
          <a:ln w="10160">
            <a:solidFill>
              <a:srgbClr val="4A67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251460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2542032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provides information-theoretic perfect secrecy — unbreakable by definition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3118104"/>
            <a:ext cx="8321040" cy="530352"/>
          </a:xfrm>
          <a:prstGeom prst="rect">
            <a:avLst/>
          </a:prstGeom>
          <a:solidFill>
            <a:srgbClr val="1C2B1E"/>
          </a:solidFill>
          <a:ln w="10160">
            <a:solidFill>
              <a:srgbClr val="4A67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3118104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4128" y="3145536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TACS implements OTP on real battlefield messaging with key destruction protocol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3721608"/>
            <a:ext cx="8321040" cy="530352"/>
          </a:xfrm>
          <a:prstGeom prst="rect">
            <a:avLst/>
          </a:prstGeom>
          <a:solidFill>
            <a:srgbClr val="1C2B1E"/>
          </a:solidFill>
          <a:ln w="10160">
            <a:solidFill>
              <a:srgbClr val="4A67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721608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🪖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24128" y="374904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use case is ideal: short messages, pre-deployment key distribution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1480" y="4325112"/>
            <a:ext cx="8321040" cy="530352"/>
          </a:xfrm>
          <a:prstGeom prst="rect">
            <a:avLst/>
          </a:prstGeom>
          <a:solidFill>
            <a:srgbClr val="1C2B1E"/>
          </a:solidFill>
          <a:ln w="10160">
            <a:solidFill>
              <a:srgbClr val="4A67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4325112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24128" y="4352544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management is the only challenge — handled via physical courier pre-mission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Rafia Rameen (FA24-BSE-051)  •  Samrina Manahil (FA24-BSE-052)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Military Communication System</dc:title>
  <dc:subject>PptxGenJS Presentation</dc:subject>
  <dc:creator>Rafia Rameen &amp; Samrina Manahil</dc:creator>
  <cp:lastModifiedBy>Rafia Rameen &amp; Samrina Manahil</cp:lastModifiedBy>
  <cp:revision>1</cp:revision>
  <dcterms:created xsi:type="dcterms:W3CDTF">2026-05-20T02:36:51Z</dcterms:created>
  <dcterms:modified xsi:type="dcterms:W3CDTF">2026-05-20T02:36:51Z</dcterms:modified>
</cp:coreProperties>
</file>